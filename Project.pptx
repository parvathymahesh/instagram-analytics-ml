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63" r:id="rId4"/>
    <p:sldId id="258" r:id="rId5"/>
    <p:sldId id="260" r:id="rId6"/>
    <p:sldId id="259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93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21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A47EB-1227-4240-91F6-D007E3009BC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4C8C2-17DE-457D-9E6A-3346A0DFC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1537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A47EB-1227-4240-91F6-D007E3009BC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4C8C2-17DE-457D-9E6A-3346A0DFC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031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A47EB-1227-4240-91F6-D007E3009BC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4C8C2-17DE-457D-9E6A-3346A0DFC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327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A47EB-1227-4240-91F6-D007E3009BC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4C8C2-17DE-457D-9E6A-3346A0DFC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390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A47EB-1227-4240-91F6-D007E3009BC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4C8C2-17DE-457D-9E6A-3346A0DFC03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820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A47EB-1227-4240-91F6-D007E3009BC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4C8C2-17DE-457D-9E6A-3346A0DFC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92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A47EB-1227-4240-91F6-D007E3009BC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4C8C2-17DE-457D-9E6A-3346A0DFC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651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A47EB-1227-4240-91F6-D007E3009BC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4C8C2-17DE-457D-9E6A-3346A0DFC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28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3ECA47EB-1227-4240-91F6-D007E3009BC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4C8C2-17DE-457D-9E6A-3346A0DFC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380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A47EB-1227-4240-91F6-D007E3009BC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4C8C2-17DE-457D-9E6A-3346A0DFC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338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A47EB-1227-4240-91F6-D007E3009BC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4C8C2-17DE-457D-9E6A-3346A0DFC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44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3ECA47EB-1227-4240-91F6-D007E3009BC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B4B4C8C2-17DE-457D-9E6A-3346A0DFC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249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789DB-35CD-0ECA-13C9-B1F198BCB3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5400" b="1" dirty="0"/>
              <a:t>Instagram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27741A-3146-F3DC-AE42-AD088E2631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59132" y="4445001"/>
            <a:ext cx="3208867" cy="1557866"/>
          </a:xfrm>
        </p:spPr>
        <p:txBody>
          <a:bodyPr>
            <a:normAutofit/>
          </a:bodyPr>
          <a:lstStyle/>
          <a:p>
            <a:r>
              <a:rPr lang="en-US" sz="1800" b="1" dirty="0"/>
              <a:t>Parvathy S</a:t>
            </a:r>
          </a:p>
          <a:p>
            <a:r>
              <a:rPr lang="en-US" sz="1800" b="1" dirty="0"/>
              <a:t>Techolas Technologies</a:t>
            </a:r>
          </a:p>
        </p:txBody>
      </p:sp>
    </p:spTree>
    <p:extLst>
      <p:ext uri="{BB962C8B-B14F-4D97-AF65-F5344CB8AC3E}">
        <p14:creationId xmlns:p14="http://schemas.microsoft.com/office/powerpoint/2010/main" val="1361384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19AF6-C5E5-509A-2BAF-300752727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2498"/>
            <a:ext cx="4900961" cy="721112"/>
          </a:xfrm>
        </p:spPr>
        <p:txBody>
          <a:bodyPr>
            <a:normAutofit/>
          </a:bodyPr>
          <a:lstStyle/>
          <a:p>
            <a:r>
              <a:rPr lang="en-US" sz="2400" b="1" u="sng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EE196-51B5-34B3-30AD-B66EB24FD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5830" y="1427770"/>
            <a:ext cx="10515600" cy="5452532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400" dirty="0">
                <a:solidFill>
                  <a:schemeClr val="tx1"/>
                </a:solidFill>
                <a:latin typeface="+mj-lt"/>
              </a:rPr>
              <a:t> Contains 30,000 Instagram posts.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400" dirty="0">
              <a:solidFill>
                <a:schemeClr val="tx1"/>
              </a:solidFill>
              <a:latin typeface="+mj-lt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400" dirty="0">
                <a:solidFill>
                  <a:schemeClr val="tx1"/>
                </a:solidFill>
                <a:latin typeface="+mj-lt"/>
              </a:rPr>
              <a:t> Generated to simulate real Instagram Insights behavior.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400" dirty="0">
              <a:solidFill>
                <a:schemeClr val="tx1"/>
              </a:solidFill>
              <a:latin typeface="+mj-lt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400" dirty="0">
                <a:solidFill>
                  <a:schemeClr val="tx1"/>
                </a:solidFill>
                <a:latin typeface="+mj-lt"/>
              </a:rPr>
              <a:t> Reflects realistic Instagram algorithm patterns.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400" dirty="0">
              <a:solidFill>
                <a:schemeClr val="tx1"/>
              </a:solidFill>
              <a:latin typeface="+mj-lt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400" dirty="0">
                <a:solidFill>
                  <a:schemeClr val="tx1"/>
                </a:solidFill>
                <a:latin typeface="+mj-lt"/>
              </a:rPr>
              <a:t> Covers multiple content types: Reels, Photos, Videos, and Carousels.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400" dirty="0">
              <a:solidFill>
                <a:schemeClr val="tx1"/>
              </a:solidFill>
              <a:latin typeface="+mj-lt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400" dirty="0">
                <a:solidFill>
                  <a:schemeClr val="tx1"/>
                </a:solidFill>
                <a:latin typeface="+mj-lt"/>
              </a:rPr>
              <a:t> Each record represents analytics of a single post.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400" dirty="0">
              <a:solidFill>
                <a:schemeClr val="tx1"/>
              </a:solidFill>
              <a:latin typeface="+mj-lt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400" dirty="0">
                <a:solidFill>
                  <a:schemeClr val="tx1"/>
                </a:solidFill>
                <a:latin typeface="+mj-lt"/>
              </a:rPr>
              <a:t> Target Variable : Engagement Rate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400" dirty="0">
              <a:solidFill>
                <a:schemeClr val="tx1"/>
              </a:solidFill>
              <a:latin typeface="+mj-lt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400" dirty="0">
                <a:solidFill>
                  <a:schemeClr val="tx1"/>
                </a:solidFill>
                <a:latin typeface="+mj-lt"/>
              </a:rPr>
              <a:t> A</a:t>
            </a:r>
            <a:r>
              <a:rPr lang="en-US" sz="1400" dirty="0">
                <a:latin typeface="+mj-lt"/>
              </a:rPr>
              <a:t>ims to build a machine learning–based Instagram Analytics system that predicts the engagement rate.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400" dirty="0">
              <a:solidFill>
                <a:schemeClr val="tx1"/>
              </a:solidFill>
              <a:latin typeface="+mj-lt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400" dirty="0">
                <a:latin typeface="+mj-lt"/>
              </a:rPr>
              <a:t> Model is deployed as an interactive Streamlit dashboard, allowing users to input post metrics and instantly receive engagement predictions.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400" dirty="0">
              <a:solidFill>
                <a:schemeClr val="tx1"/>
              </a:solidFill>
              <a:latin typeface="+mj-lt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4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2258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C3A14-9B8E-3943-A3CA-93AA0107B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8B4DD-AB32-7B7D-7F5E-3A1041032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9132"/>
            <a:ext cx="10515600" cy="5748867"/>
          </a:xfrm>
        </p:spPr>
        <p:txBody>
          <a:bodyPr>
            <a:noAutofit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US" sz="1400" dirty="0"/>
              <a:t>This dataset is ideal for:</a:t>
            </a:r>
          </a:p>
          <a:p>
            <a:pPr algn="just">
              <a:lnSpc>
                <a:spcPct val="170000"/>
              </a:lnSpc>
            </a:pPr>
            <a:r>
              <a:rPr lang="en-US" sz="1400" dirty="0"/>
              <a:t>Social media analytics</a:t>
            </a:r>
          </a:p>
          <a:p>
            <a:pPr algn="just">
              <a:lnSpc>
                <a:spcPct val="170000"/>
              </a:lnSpc>
            </a:pPr>
            <a:r>
              <a:rPr lang="en-US" sz="1400" dirty="0"/>
              <a:t>Trend prediction</a:t>
            </a:r>
          </a:p>
          <a:p>
            <a:pPr algn="just">
              <a:lnSpc>
                <a:spcPct val="170000"/>
              </a:lnSpc>
            </a:pPr>
            <a:r>
              <a:rPr lang="en-US" sz="1400" dirty="0"/>
              <a:t>Engagement modeling</a:t>
            </a:r>
          </a:p>
          <a:p>
            <a:pPr algn="just">
              <a:lnSpc>
                <a:spcPct val="170000"/>
              </a:lnSpc>
            </a:pPr>
            <a:r>
              <a:rPr lang="en-US" sz="1400" dirty="0"/>
              <a:t>Machine learning</a:t>
            </a:r>
          </a:p>
          <a:p>
            <a:pPr algn="just">
              <a:lnSpc>
                <a:spcPct val="170000"/>
              </a:lnSpc>
            </a:pPr>
            <a:r>
              <a:rPr lang="en-US" sz="1400" dirty="0"/>
              <a:t>Influencer performance analysis</a:t>
            </a:r>
          </a:p>
          <a:p>
            <a:pPr algn="just">
              <a:lnSpc>
                <a:spcPct val="170000"/>
              </a:lnSpc>
            </a:pPr>
            <a:r>
              <a:rPr lang="en-US" sz="1400" dirty="0"/>
              <a:t>Dashboard creation</a:t>
            </a:r>
          </a:p>
          <a:p>
            <a:pPr algn="just">
              <a:lnSpc>
                <a:spcPct val="170000"/>
              </a:lnSpc>
            </a:pPr>
            <a:r>
              <a:rPr lang="en-US" sz="1400" dirty="0"/>
              <a:t>Growth forecasting</a:t>
            </a:r>
          </a:p>
          <a:p>
            <a:pPr algn="just">
              <a:lnSpc>
                <a:spcPct val="170000"/>
              </a:lnSpc>
            </a:pPr>
            <a:r>
              <a:rPr lang="en-US" sz="1400" dirty="0"/>
              <a:t>Reels vs. Posts comparisons</a:t>
            </a:r>
          </a:p>
        </p:txBody>
      </p:sp>
    </p:spTree>
    <p:extLst>
      <p:ext uri="{BB962C8B-B14F-4D97-AF65-F5344CB8AC3E}">
        <p14:creationId xmlns:p14="http://schemas.microsoft.com/office/powerpoint/2010/main" val="2735929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9AF6A-3EEA-0F51-7579-A0EFEE3EE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535" y="394009"/>
            <a:ext cx="5584490" cy="784097"/>
          </a:xfrm>
        </p:spPr>
        <p:txBody>
          <a:bodyPr>
            <a:normAutofit/>
          </a:bodyPr>
          <a:lstStyle/>
          <a:p>
            <a:r>
              <a:rPr lang="en-US" sz="2400" b="1" u="sng" dirty="0"/>
              <a:t>COLUMN DESCRIPTIONS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B239D-9245-AB40-022E-2AEE8BA15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334"/>
            <a:ext cx="10515600" cy="5333998"/>
          </a:xfrm>
        </p:spPr>
        <p:txBody>
          <a:bodyPr>
            <a:noAutofit/>
          </a:bodyPr>
          <a:lstStyle/>
          <a:p>
            <a:pPr marL="0" indent="0" fontAlgn="base">
              <a:buNone/>
            </a:pPr>
            <a:br>
              <a:rPr lang="en-US" sz="1400" dirty="0"/>
            </a:br>
            <a:r>
              <a:rPr lang="en-US" sz="1400" dirty="0"/>
              <a:t>Key features used in the model include:</a:t>
            </a:r>
            <a:endParaRPr lang="en-US" sz="1400" b="1" dirty="0"/>
          </a:p>
          <a:p>
            <a:pPr fontAlgn="base"/>
            <a:r>
              <a:rPr lang="en-US" sz="1400" b="1" dirty="0"/>
              <a:t>Post_ID</a:t>
            </a:r>
            <a:br>
              <a:rPr lang="en-US" sz="1400" dirty="0"/>
            </a:br>
            <a:r>
              <a:rPr lang="en-US" sz="1400" dirty="0"/>
              <a:t>A unique ID for each Instagram post. Useful as a primary key.</a:t>
            </a:r>
          </a:p>
          <a:p>
            <a:pPr fontAlgn="base"/>
            <a:r>
              <a:rPr lang="en-US" sz="1400" b="1" dirty="0"/>
              <a:t>Upload_Date</a:t>
            </a:r>
            <a:br>
              <a:rPr lang="en-US" sz="1400" dirty="0"/>
            </a:br>
            <a:r>
              <a:rPr lang="en-US" sz="1400" dirty="0"/>
              <a:t>The date the post was uploaded, within the last 1 year.</a:t>
            </a:r>
          </a:p>
          <a:p>
            <a:pPr fontAlgn="base"/>
            <a:r>
              <a:rPr lang="en-US" sz="1400" b="1" dirty="0"/>
              <a:t>Media_Type</a:t>
            </a:r>
            <a:br>
              <a:rPr lang="en-US" sz="1400" dirty="0"/>
            </a:br>
            <a:r>
              <a:rPr lang="en-US" sz="1400" dirty="0"/>
              <a:t>Type of content: Photo, Video, Reel, or Carousel. Important for performance comparisons.</a:t>
            </a:r>
          </a:p>
          <a:p>
            <a:pPr fontAlgn="base"/>
            <a:r>
              <a:rPr lang="en-US" sz="1400" b="1" dirty="0"/>
              <a:t>Likes</a:t>
            </a:r>
            <a:br>
              <a:rPr lang="en-US" sz="1400" dirty="0"/>
            </a:br>
            <a:r>
              <a:rPr lang="en-US" sz="1400" dirty="0"/>
              <a:t>Number of likes received by the post.</a:t>
            </a:r>
          </a:p>
          <a:p>
            <a:pPr fontAlgn="base"/>
            <a:r>
              <a:rPr lang="en-US" sz="1400" b="1" dirty="0"/>
              <a:t>Comments</a:t>
            </a:r>
            <a:br>
              <a:rPr lang="en-US" sz="1400" dirty="0"/>
            </a:br>
            <a:r>
              <a:rPr lang="en-US" sz="1400" dirty="0"/>
              <a:t>Total comments the post received.</a:t>
            </a:r>
          </a:p>
          <a:p>
            <a:pPr fontAlgn="base"/>
            <a:r>
              <a:rPr lang="en-US" sz="1400" b="1" dirty="0"/>
              <a:t>Shares</a:t>
            </a:r>
            <a:br>
              <a:rPr lang="en-US" sz="1400" dirty="0"/>
            </a:br>
            <a:r>
              <a:rPr lang="en-US" sz="1400" dirty="0"/>
              <a:t>How many times users shared the post.</a:t>
            </a:r>
          </a:p>
          <a:p>
            <a:pPr fontAlgn="base"/>
            <a:r>
              <a:rPr lang="en-US" sz="1400" b="1" dirty="0"/>
              <a:t>Saves</a:t>
            </a:r>
            <a:br>
              <a:rPr lang="en-US" sz="1400" dirty="0"/>
            </a:br>
            <a:r>
              <a:rPr lang="en-US" sz="1400" dirty="0"/>
              <a:t>Number of users who saved the content. A major Instagram ranking factor.</a:t>
            </a:r>
          </a:p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66760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F16E7-C023-CC11-F604-97A7D1F26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8C6F8-C2C8-D3A7-D10B-71D4A5A86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404" y="401444"/>
            <a:ext cx="6819178" cy="892924"/>
          </a:xfrm>
        </p:spPr>
        <p:txBody>
          <a:bodyPr>
            <a:normAutofit/>
          </a:bodyPr>
          <a:lstStyle/>
          <a:p>
            <a:r>
              <a:rPr lang="en-US" sz="2400" b="1" u="sng" dirty="0"/>
              <a:t>COLUMN DESCRIPTIONS (cont..)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B37FB-AAEF-2AAD-CB23-E63DAE9A3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5733"/>
            <a:ext cx="10515600" cy="4715934"/>
          </a:xfrm>
        </p:spPr>
        <p:txBody>
          <a:bodyPr>
            <a:noAutofit/>
          </a:bodyPr>
          <a:lstStyle/>
          <a:p>
            <a:pPr fontAlgn="base">
              <a:lnSpc>
                <a:spcPts val="1680"/>
              </a:lnSpc>
            </a:pPr>
            <a:r>
              <a:rPr lang="en-US" sz="1400" b="1" dirty="0"/>
              <a:t>Reach</a:t>
            </a:r>
            <a:br>
              <a:rPr lang="en-US" sz="1400" dirty="0"/>
            </a:br>
            <a:r>
              <a:rPr lang="en-US" sz="1400" dirty="0"/>
              <a:t>Unique accounts who saw the post.</a:t>
            </a:r>
            <a:endParaRPr lang="en-US" sz="1400" b="1" dirty="0"/>
          </a:p>
          <a:p>
            <a:pPr fontAlgn="base">
              <a:lnSpc>
                <a:spcPts val="1680"/>
              </a:lnSpc>
            </a:pPr>
            <a:r>
              <a:rPr lang="en-US" sz="1400" b="1" dirty="0"/>
              <a:t>Impressions</a:t>
            </a:r>
            <a:br>
              <a:rPr lang="en-US" sz="1400" dirty="0"/>
            </a:br>
            <a:r>
              <a:rPr lang="en-US" sz="1400" dirty="0"/>
              <a:t>Total views from all sources (may exceed reach).</a:t>
            </a:r>
          </a:p>
          <a:p>
            <a:pPr fontAlgn="base">
              <a:lnSpc>
                <a:spcPts val="1680"/>
              </a:lnSpc>
            </a:pPr>
            <a:r>
              <a:rPr lang="en-US" sz="1400" b="1" dirty="0"/>
              <a:t>Caption_Length</a:t>
            </a:r>
            <a:br>
              <a:rPr lang="en-US" sz="1400" dirty="0"/>
            </a:br>
            <a:r>
              <a:rPr lang="en-US" sz="1400" dirty="0"/>
              <a:t>Number of characters in the post caption.</a:t>
            </a:r>
          </a:p>
          <a:p>
            <a:pPr fontAlgn="base">
              <a:lnSpc>
                <a:spcPts val="1680"/>
              </a:lnSpc>
            </a:pPr>
            <a:r>
              <a:rPr lang="en-US" sz="1400" b="1" dirty="0"/>
              <a:t>Hashtags_Count</a:t>
            </a:r>
            <a:br>
              <a:rPr lang="en-US" sz="1400" dirty="0"/>
            </a:br>
            <a:r>
              <a:rPr lang="en-US" sz="1400" dirty="0"/>
              <a:t>Total hashtags used.</a:t>
            </a:r>
          </a:p>
          <a:p>
            <a:pPr fontAlgn="base">
              <a:lnSpc>
                <a:spcPts val="1680"/>
              </a:lnSpc>
            </a:pPr>
            <a:r>
              <a:rPr lang="en-US" sz="1400" b="1" dirty="0"/>
              <a:t>Followers_Gained</a:t>
            </a:r>
            <a:br>
              <a:rPr lang="en-US" sz="1400" dirty="0"/>
            </a:br>
            <a:r>
              <a:rPr lang="en-US" sz="1400" dirty="0"/>
              <a:t>How many followers were gained directly from this post.</a:t>
            </a:r>
          </a:p>
          <a:p>
            <a:pPr fontAlgn="base">
              <a:lnSpc>
                <a:spcPts val="1680"/>
              </a:lnSpc>
            </a:pPr>
            <a:r>
              <a:rPr lang="en-US" sz="1400" b="1" dirty="0"/>
              <a:t>Traffic_Source</a:t>
            </a:r>
            <a:br>
              <a:rPr lang="en-US" sz="1400" dirty="0"/>
            </a:br>
            <a:r>
              <a:rPr lang="en-US" sz="1400" dirty="0"/>
              <a:t>Where viewers discovered the post: Explore, Home Feed, Hashtags, Profile, Reels Feed, or External.</a:t>
            </a:r>
          </a:p>
          <a:p>
            <a:pPr fontAlgn="base">
              <a:lnSpc>
                <a:spcPts val="1680"/>
              </a:lnSpc>
            </a:pPr>
            <a:r>
              <a:rPr lang="en-US" sz="1400" b="1" dirty="0"/>
              <a:t>Content_Category</a:t>
            </a:r>
            <a:br>
              <a:rPr lang="en-US" sz="1400" dirty="0"/>
            </a:br>
            <a:r>
              <a:rPr lang="en-US" sz="1400" dirty="0"/>
              <a:t>What is the category of the post : Food, Music, Beauty, Fitness etc.</a:t>
            </a:r>
          </a:p>
          <a:p>
            <a:pPr fontAlgn="base">
              <a:lnSpc>
                <a:spcPts val="1680"/>
              </a:lnSpc>
            </a:pPr>
            <a:r>
              <a:rPr lang="en-US" sz="1400" b="1" dirty="0"/>
              <a:t>Engagement_Rate</a:t>
            </a:r>
            <a:br>
              <a:rPr lang="en-US" sz="1400" dirty="0"/>
            </a:br>
            <a:r>
              <a:rPr lang="en-US" sz="1400" dirty="0"/>
              <a:t>Percentage of engagement relative to impressions. Useful for performance scoring.</a:t>
            </a:r>
          </a:p>
        </p:txBody>
      </p:sp>
    </p:spTree>
    <p:extLst>
      <p:ext uri="{BB962C8B-B14F-4D97-AF65-F5344CB8AC3E}">
        <p14:creationId xmlns:p14="http://schemas.microsoft.com/office/powerpoint/2010/main" val="3022254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50425-4987-7A4B-61BB-70028B41C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153" y="488699"/>
            <a:ext cx="5499964" cy="842013"/>
          </a:xfrm>
        </p:spPr>
        <p:txBody>
          <a:bodyPr>
            <a:normAutofit/>
          </a:bodyPr>
          <a:lstStyle/>
          <a:p>
            <a:r>
              <a:rPr lang="en-US" sz="2400" b="1" u="sng" dirty="0"/>
              <a:t>Relevance of the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AF0D1-D235-7D9D-E8B0-D3A943164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603" y="1878008"/>
            <a:ext cx="7729728" cy="48021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The </a:t>
            </a:r>
            <a:r>
              <a:rPr lang="en-US" sz="1400" b="1" dirty="0"/>
              <a:t>RandomForestRegressor</a:t>
            </a:r>
            <a:r>
              <a:rPr lang="en-US" sz="1400" dirty="0"/>
              <a:t> model was selected for this problem because:</a:t>
            </a:r>
          </a:p>
          <a:p>
            <a:pPr marL="0" indent="0">
              <a:buNone/>
            </a:pPr>
            <a:endParaRPr lang="en-US" sz="1400" dirty="0"/>
          </a:p>
          <a:p>
            <a:r>
              <a:rPr lang="en-US" sz="1400" dirty="0"/>
              <a:t>Performs well on large datasets (30,000+ records).</a:t>
            </a:r>
          </a:p>
          <a:p>
            <a:r>
              <a:rPr lang="en-US" sz="1400" dirty="0"/>
              <a:t>Capture non-linear relationships between engagement metrics.</a:t>
            </a:r>
          </a:p>
          <a:p>
            <a:r>
              <a:rPr lang="en-US" sz="1400" dirty="0"/>
              <a:t>Robust to outliers and noisy social media data.</a:t>
            </a:r>
          </a:p>
          <a:p>
            <a:r>
              <a:rPr lang="en-US" sz="1400" dirty="0"/>
              <a:t>Provides stable and accurate predictions without excessive tuning.</a:t>
            </a:r>
          </a:p>
          <a:p>
            <a:r>
              <a:rPr lang="en-US" sz="1400" dirty="0"/>
              <a:t>Much faster and more scalable than models like SVR or KNN for this dataset size.</a:t>
            </a:r>
          </a:p>
          <a:p>
            <a:endParaRPr lang="en-US" sz="1400" dirty="0"/>
          </a:p>
          <a:p>
            <a:pPr marL="0" indent="0">
              <a:buNone/>
            </a:pPr>
            <a:r>
              <a:rPr lang="en-US" sz="1400" dirty="0"/>
              <a:t>This makes the model suitable for real-world applications such as social media analytics tools and dashboards.</a:t>
            </a:r>
          </a:p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93163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F9CFA-A55D-3717-C97C-621E2C186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81328CE2-B6D7-2300-A769-D507D2CE31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1066" y="986402"/>
            <a:ext cx="7396064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 computational cost when experimenting with models like SVR and KNN on large datasets.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Model selection was critical, as some algorithms were unsuitable for 30k+ rows.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Hyperparameter tuning using GridSearchCV significantly increased training time.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Handling real-world variability in engagement metrics.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D69972-4C53-E05E-ECF5-94A0D45ABC07}"/>
              </a:ext>
            </a:extLst>
          </p:cNvPr>
          <p:cNvSpPr txBox="1"/>
          <p:nvPr/>
        </p:nvSpPr>
        <p:spPr>
          <a:xfrm>
            <a:off x="491066" y="203200"/>
            <a:ext cx="6519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CHALLENGES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690B55-BED5-ACCB-FF70-77A6BF47CD51}"/>
              </a:ext>
            </a:extLst>
          </p:cNvPr>
          <p:cNvSpPr txBox="1"/>
          <p:nvPr/>
        </p:nvSpPr>
        <p:spPr>
          <a:xfrm>
            <a:off x="491066" y="3167390"/>
            <a:ext cx="59605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INTRESTING OBSERVATIONS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1099C164-D529-8387-ABA1-75F611E66A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066" y="4017469"/>
            <a:ext cx="8585200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400" dirty="0">
                <a:solidFill>
                  <a:schemeClr val="tx1"/>
                </a:solidFill>
              </a:rPr>
              <a:t>Tree-based models significantly outperformed distance-based models.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400" dirty="0">
              <a:solidFill>
                <a:schemeClr val="tx1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400" dirty="0">
                <a:solidFill>
                  <a:schemeClr val="tx1"/>
                </a:solidFill>
              </a:rPr>
              <a:t>Engagement is strongly influenced by reach and impressions, more than likes alone.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400" dirty="0">
              <a:solidFill>
                <a:schemeClr val="tx1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400" dirty="0">
                <a:solidFill>
                  <a:schemeClr val="tx1"/>
                </a:solidFill>
              </a:rPr>
              <a:t>Increasing hashtags beyond a certain limit showed diminishing returns.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400" dirty="0">
              <a:solidFill>
                <a:schemeClr val="tx1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400" dirty="0">
                <a:solidFill>
                  <a:schemeClr val="tx1"/>
                </a:solidFill>
              </a:rPr>
              <a:t>The RandomForest model achieved good generalization without overfitting.</a:t>
            </a:r>
          </a:p>
        </p:txBody>
      </p:sp>
    </p:spTree>
    <p:extLst>
      <p:ext uri="{BB962C8B-B14F-4D97-AF65-F5344CB8AC3E}">
        <p14:creationId xmlns:p14="http://schemas.microsoft.com/office/powerpoint/2010/main" val="3694601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D7E358-7820-C335-B112-4A1C9696F6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997490"/>
              </p:ext>
            </p:extLst>
          </p:nvPr>
        </p:nvGraphicFramePr>
        <p:xfrm>
          <a:off x="999065" y="1230216"/>
          <a:ext cx="9414935" cy="521893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336802">
                  <a:extLst>
                    <a:ext uri="{9D8B030D-6E8A-4147-A177-3AD203B41FA5}">
                      <a16:colId xmlns:a16="http://schemas.microsoft.com/office/drawing/2014/main" val="3263437335"/>
                    </a:ext>
                  </a:extLst>
                </a:gridCol>
                <a:gridCol w="1591733">
                  <a:extLst>
                    <a:ext uri="{9D8B030D-6E8A-4147-A177-3AD203B41FA5}">
                      <a16:colId xmlns:a16="http://schemas.microsoft.com/office/drawing/2014/main" val="2949689279"/>
                    </a:ext>
                  </a:extLst>
                </a:gridCol>
                <a:gridCol w="1676401">
                  <a:extLst>
                    <a:ext uri="{9D8B030D-6E8A-4147-A177-3AD203B41FA5}">
                      <a16:colId xmlns:a16="http://schemas.microsoft.com/office/drawing/2014/main" val="500381877"/>
                    </a:ext>
                  </a:extLst>
                </a:gridCol>
                <a:gridCol w="1803399">
                  <a:extLst>
                    <a:ext uri="{9D8B030D-6E8A-4147-A177-3AD203B41FA5}">
                      <a16:colId xmlns:a16="http://schemas.microsoft.com/office/drawing/2014/main" val="209469932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1885974627"/>
                    </a:ext>
                  </a:extLst>
                </a:gridCol>
              </a:tblGrid>
              <a:tr h="28884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CV Score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R2 Score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5487298"/>
                  </a:ext>
                </a:extLst>
              </a:tr>
              <a:tr h="4717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Linear Regression</a:t>
                      </a:r>
                    </a:p>
                    <a:p>
                      <a:pPr algn="ctr"/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---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61.79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5.07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67.29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3513394"/>
                  </a:ext>
                </a:extLst>
              </a:tr>
              <a:tr h="4332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Ridge</a:t>
                      </a:r>
                    </a:p>
                    <a:p>
                      <a:pPr algn="ctr"/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62.31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61.79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5.07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67.30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4842270"/>
                  </a:ext>
                </a:extLst>
              </a:tr>
              <a:tr h="416466"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Lasso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62.26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61.67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5.05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67.51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2086922"/>
                  </a:ext>
                </a:extLst>
              </a:tr>
              <a:tr h="4591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Decision Tree Regressor</a:t>
                      </a:r>
                    </a:p>
                    <a:p>
                      <a:pPr algn="ctr"/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96.76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97.13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5.04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0418969"/>
                  </a:ext>
                </a:extLst>
              </a:tr>
              <a:tr h="51165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Random Forest Regressor</a:t>
                      </a:r>
                    </a:p>
                    <a:p>
                      <a:pPr algn="ctr"/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99.51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99.63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0.31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0.64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9739721"/>
                  </a:ext>
                </a:extLst>
              </a:tr>
              <a:tr h="4717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AdaBoost Regressor</a:t>
                      </a:r>
                    </a:p>
                    <a:p>
                      <a:pPr algn="ctr"/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90.74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90.73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3.26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16.32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662517"/>
                  </a:ext>
                </a:extLst>
              </a:tr>
              <a:tr h="471733"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Gradient Boosting Regressor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82.35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83.59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2.02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28.90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1970529"/>
                  </a:ext>
                </a:extLst>
              </a:tr>
              <a:tr h="4717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XGB Regressor</a:t>
                      </a:r>
                    </a:p>
                    <a:p>
                      <a:pPr algn="ctr"/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99.14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99.25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1.31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6851061"/>
                  </a:ext>
                </a:extLst>
              </a:tr>
              <a:tr h="50877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SVR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9869908"/>
                  </a:ext>
                </a:extLst>
              </a:tr>
              <a:tr h="6739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Kneighbors Regressor</a:t>
                      </a:r>
                    </a:p>
                    <a:p>
                      <a:pPr algn="ctr"/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84.54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83.59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2.02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28.90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351930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10D31E6-9206-7647-A10F-5A69845A8A38}"/>
              </a:ext>
            </a:extLst>
          </p:cNvPr>
          <p:cNvSpPr txBox="1"/>
          <p:nvPr/>
        </p:nvSpPr>
        <p:spPr>
          <a:xfrm>
            <a:off x="626534" y="280254"/>
            <a:ext cx="535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ACCURACY COMPARISION</a:t>
            </a:r>
          </a:p>
        </p:txBody>
      </p:sp>
    </p:spTree>
    <p:extLst>
      <p:ext uri="{BB962C8B-B14F-4D97-AF65-F5344CB8AC3E}">
        <p14:creationId xmlns:p14="http://schemas.microsoft.com/office/powerpoint/2010/main" val="128180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AA09E-FDDF-AC8C-E037-EC97D3FF0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38B70-5960-8E44-FC7C-D5500ABE4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369" y="282498"/>
            <a:ext cx="3759201" cy="751468"/>
          </a:xfrm>
        </p:spPr>
        <p:txBody>
          <a:bodyPr>
            <a:normAutofit/>
          </a:bodyPr>
          <a:lstStyle/>
          <a:p>
            <a:r>
              <a:rPr lang="en-US" sz="2400" b="1" u="sng" dirty="0"/>
              <a:t>Conclusion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FE5C88C-E546-09F8-615C-91FF11B799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6399" y="1520583"/>
            <a:ext cx="772953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Multiple regression models were trained and evaluated.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Performance was compared using:</a:t>
            </a:r>
            <a:r>
              <a:rPr lang="en-US" altLang="en-US" sz="1400" dirty="0">
                <a:solidFill>
                  <a:schemeClr val="tx1"/>
                </a:solidFill>
                <a:latin typeface="+mj-lt"/>
              </a:rPr>
              <a:t> :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CV Score, R² Score, MAE and MSE.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1400" b="1" dirty="0">
              <a:solidFill>
                <a:schemeClr val="tx1"/>
              </a:solidFill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400" b="1" dirty="0">
                <a:latin typeface="+mj-lt"/>
              </a:rPr>
              <a:t> Random Forest Regressor</a:t>
            </a:r>
            <a:r>
              <a:rPr lang="en-US" sz="1400" dirty="0">
                <a:latin typeface="+mj-lt"/>
              </a:rPr>
              <a:t> achieved the best overall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sz="1400" dirty="0"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400" dirty="0">
                <a:latin typeface="+mj-lt"/>
              </a:rPr>
              <a:t> Highest R² score with lowest prediction error.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sz="1400" dirty="0"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400" dirty="0">
                <a:latin typeface="+mj-lt"/>
              </a:rPr>
              <a:t> Fast and stable on large datasets (30k posts).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sz="1400" dirty="0"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400" dirty="0">
                <a:latin typeface="+mj-lt"/>
              </a:rPr>
              <a:t> Linear models showed poor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sz="1400" dirty="0"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400" dirty="0">
                <a:latin typeface="+mj-lt"/>
              </a:rPr>
              <a:t> Single decision trees tended to overfit.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sz="1400" dirty="0"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400" dirty="0">
                <a:latin typeface="+mj-lt"/>
              </a:rPr>
              <a:t> SVR and KNN were too slow for large data.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28247842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</TotalTime>
  <Words>680</Words>
  <Application>Microsoft Office PowerPoint</Application>
  <PresentationFormat>Widescreen</PresentationFormat>
  <Paragraphs>141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Gill Sans MT</vt:lpstr>
      <vt:lpstr>Parcel</vt:lpstr>
      <vt:lpstr>Instagram Analytics</vt:lpstr>
      <vt:lpstr>Introduction</vt:lpstr>
      <vt:lpstr>PowerPoint Presentation</vt:lpstr>
      <vt:lpstr>COLUMN DESCRIPTIONS</vt:lpstr>
      <vt:lpstr>COLUMN DESCRIPTIONS (cont..)</vt:lpstr>
      <vt:lpstr>Relevance of the Model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PARVATHY S</dc:creator>
  <cp:lastModifiedBy>PARVATHY S</cp:lastModifiedBy>
  <cp:revision>5</cp:revision>
  <dcterms:created xsi:type="dcterms:W3CDTF">2025-12-30T13:09:22Z</dcterms:created>
  <dcterms:modified xsi:type="dcterms:W3CDTF">2026-01-03T09:31:49Z</dcterms:modified>
</cp:coreProperties>
</file>